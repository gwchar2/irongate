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309" r:id="rId7"/>
    <p:sldId id="310" r:id="rId8"/>
    <p:sldId id="311" r:id="rId9"/>
    <p:sldId id="318" r:id="rId10"/>
    <p:sldId id="312" r:id="rId11"/>
    <p:sldId id="316" r:id="rId12"/>
    <p:sldId id="319" r:id="rId13"/>
    <p:sldId id="320" r:id="rId14"/>
    <p:sldId id="31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045E-3851-A225-8DB2-BCC09F6C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754D6-8A37-1CEB-3F91-045192995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80CD8-E502-C14F-B16E-593685F45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1CE6D-CC78-E12C-A4FD-4256E282D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0666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1535837"/>
            <a:ext cx="10360152" cy="5029200"/>
          </a:xfrm>
        </p:spPr>
        <p:txBody>
          <a:bodyPr anchor="ctr"/>
          <a:lstStyle/>
          <a:p>
            <a:pPr rtl="1">
              <a:lnSpc>
                <a:spcPct val="150000"/>
              </a:lnSpc>
              <a:spcAft>
                <a:spcPts val="600"/>
              </a:spcAft>
            </a:pPr>
            <a:r>
              <a:rPr lang="he-IL" dirty="0"/>
              <a:t>ממ"ן 06 </a:t>
            </a:r>
            <a:br>
              <a:rPr lang="he-IL" dirty="0"/>
            </a:br>
            <a:r>
              <a:rPr lang="he-IL" dirty="0"/>
              <a:t>מבוא לאבטחת המרחב המקוון</a:t>
            </a:r>
            <a:br>
              <a:rPr lang="he-IL" dirty="0"/>
            </a:br>
            <a:r>
              <a:rPr lang="he-IL" sz="2400" dirty="0"/>
              <a:t>סמסטר 2026א</a:t>
            </a:r>
            <a:br>
              <a:rPr lang="he-IL" sz="2400" dirty="0"/>
            </a:br>
            <a:r>
              <a:rPr lang="he-IL" sz="2400" dirty="0"/>
              <a:t>תומר טולדו ואביאל כהן</a:t>
            </a:r>
            <a:br>
              <a:rPr lang="he-IL" dirty="0"/>
            </a:br>
            <a:br>
              <a:rPr lang="he-IL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3740611"/>
              </p:ext>
            </p:extLst>
          </p:nvPr>
        </p:nvGraphicFramePr>
        <p:xfrm>
          <a:off x="6711519" y="599307"/>
          <a:ext cx="4872376" cy="5480917"/>
        </p:xfrm>
        <a:graphic>
          <a:graphicData uri="http://schemas.openxmlformats.org/drawingml/2006/table">
            <a:tbl>
              <a:tblPr firstRow="1" bandRow="1"/>
              <a:tblGrid>
                <a:gridCol w="4872376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834224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היקף הפרויקט 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Levenim MT" panose="02010502060101010101" pitchFamily="2" charset="-79"/>
                        <a:ea typeface="+mn-ea"/>
                        <a:cs typeface="Levenim MT" panose="02010502060101010101" pitchFamily="2" charset="-79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מטרות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Levenim MT" panose="02010502060101010101" pitchFamily="2" charset="-79"/>
                        <a:ea typeface="+mn-ea"/>
                        <a:cs typeface="Levenim MT" panose="02010502060101010101" pitchFamily="2" charset="-79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תצורת ניסוי (מה בנינו ומה מדדנו)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Levenim MT" panose="02010502060101010101" pitchFamily="2" charset="-79"/>
                        <a:ea typeface="+mn-ea"/>
                        <a:cs typeface="Levenim MT" panose="02010502060101010101" pitchFamily="2" charset="-79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ניסויי דגל – 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Flag Tests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 7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ממצאים מרכזיים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Levenim MT" panose="02010502060101010101" pitchFamily="2" charset="-79"/>
                        <a:ea typeface="+mn-ea"/>
                        <a:cs typeface="Levenim MT" panose="02010502060101010101" pitchFamily="2" charset="-79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8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Levenim MT" panose="02010502060101010101" pitchFamily="2" charset="-79"/>
                        <a:ea typeface="+mn-ea"/>
                        <a:cs typeface="Levenim MT" panose="02010502060101010101" pitchFamily="2" charset="-79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  <a:tr h="854835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מסקנות והמלצות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Levenim MT" panose="02010502060101010101" pitchFamily="2" charset="-79"/>
                        <a:ea typeface="+mn-ea"/>
                        <a:cs typeface="Levenim MT" panose="02010502060101010101" pitchFamily="2" charset="-79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ea typeface="+mn-ea"/>
                          <a:cs typeface="Levenim MT" panose="02010502060101010101" pitchFamily="2" charset="-79"/>
                        </a:rPr>
                        <a:t>11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2352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616" y="923277"/>
            <a:ext cx="7534656" cy="914400"/>
          </a:xfrm>
        </p:spPr>
        <p:txBody>
          <a:bodyPr/>
          <a:lstStyle/>
          <a:p>
            <a:pPr lvl="0" algn="r" rtl="1">
              <a:lnSpc>
                <a:spcPct val="100000"/>
              </a:lnSpc>
              <a:spcBef>
                <a:spcPts val="0"/>
              </a:spcBef>
              <a:defRPr/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היקף הפרויקט 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72357" y="2047989"/>
            <a:ext cx="9671867" cy="3356576"/>
          </a:xfrm>
        </p:spPr>
        <p:txBody>
          <a:bodyPr>
            <a:normAutofit lnSpcReduction="10000"/>
          </a:bodyPr>
          <a:lstStyle/>
          <a:p>
            <a:pPr algn="r" rtl="1">
              <a:lnSpc>
                <a:spcPct val="15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ניסוי הניתן לשחזור להשוואת מנגנוני אימות / אחסון סיסמאות והגנות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“online”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תחת תקיפות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Brute-Force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ו-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Password Spraying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בעזרת קובץ הסיסמאות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RockYou</a:t>
            </a:r>
          </a:p>
          <a:p>
            <a:pPr algn="r" rtl="1">
              <a:lnSpc>
                <a:spcPct val="15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הניסוי התבסס על שרת וירטואלי הנבנה ב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SQL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ומורץ בעזרת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Docker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.</a:t>
            </a:r>
          </a:p>
          <a:p>
            <a:pPr algn="r" rtl="1">
              <a:lnSpc>
                <a:spcPct val="15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הסימסאות בשרת אוחסנו ב-6 תצורות שונות לכל משתמש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;</a:t>
            </a:r>
            <a:b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</a:b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SHA256 / Argon2ID / Bcrypt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ובנוסף גם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Pepper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עבור כל אחד מהם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r" rtl="1">
              <a:lnSpc>
                <a:spcPct val="1500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התבססנו על לוגים של הרצות (בעיקר חשבונות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easy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ו-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medium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וב-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Spray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שילוב של שניהם)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מטרות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A3718F-D67C-255A-4B64-BA379609FCD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095131" y="2002749"/>
            <a:ext cx="9179422" cy="3877055"/>
          </a:xfrm>
        </p:spPr>
        <p:txBody>
          <a:bodyPr/>
          <a:lstStyle/>
          <a:p>
            <a:pPr lvl="1" algn="r" rtl="1">
              <a:lnSpc>
                <a:spcPct val="150000"/>
              </a:lnSpc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להשוות ביצועי אימות תחת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Hash Algorithms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שונים –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SHA256, Argon2ID, Bcrypt</a:t>
            </a:r>
          </a:p>
          <a:p>
            <a:pPr lvl="1" algn="r" rtl="1">
              <a:lnSpc>
                <a:spcPct val="150000"/>
              </a:lnSpc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לכמת את השפעת מנגנוני ההגנה: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Captcha, Lockout, Rate-Limiting, Pepper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(מנגנון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TOTP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קיים אך לא היה הציר המרכזי בריצות שנבחרו)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lvl="1" algn="r" rtl="1">
              <a:lnSpc>
                <a:spcPct val="150000"/>
              </a:lnSpc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למדוד זמן לפריצה / שיעור הצלחה / קצב ניסיונות /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Latency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, ולנתח את ה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Tradeoff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בין שימושיות לבטיחות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1"/>
            <a:fld id="{58FB4751-880F-D840-AAA9-3A15815CC996}" type="slidenum">
              <a:rPr lang="en-US" smtClean="0">
                <a:latin typeface="Levenim MT" panose="02010502060101010101" pitchFamily="2" charset="-79"/>
                <a:cs typeface="Levenim MT" panose="02010502060101010101" pitchFamily="2" charset="-79"/>
              </a:rPr>
              <a:pPr rtl="1"/>
              <a:t>4</a:t>
            </a:fld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תצורת ניסוי (מה בנינו ומה מדדנו)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798761A-B671-4825-623F-F4726F2BDF2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8474" y="2039112"/>
            <a:ext cx="10952937" cy="3904488"/>
          </a:xfrm>
        </p:spPr>
        <p:txBody>
          <a:bodyPr>
            <a:normAutofit fontScale="92500"/>
          </a:bodyPr>
          <a:lstStyle/>
          <a:p>
            <a:pPr lvl="1" algn="r" rtl="1">
              <a:lnSpc>
                <a:spcPct val="150000"/>
              </a:lnSpc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שרת אימות וירטואלי עם תצורה מתחלפת לכל ניסוי (בעזרת נקודת הקצה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PUT /</a:t>
            </a:r>
            <a:r>
              <a:rPr lang="en-US" dirty="0" err="1">
                <a:latin typeface="Levenim MT" panose="02010502060101010101" pitchFamily="2" charset="-79"/>
                <a:cs typeface="Levenim MT" panose="02010502060101010101" pitchFamily="2" charset="-79"/>
              </a:rPr>
              <a:t>api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/config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וקבצי </a:t>
            </a:r>
            <a:r>
              <a:rPr lang="en-US" dirty="0" err="1">
                <a:latin typeface="Levenim MT" panose="02010502060101010101" pitchFamily="2" charset="-79"/>
                <a:cs typeface="Levenim MT" panose="02010502060101010101" pitchFamily="2" charset="-79"/>
              </a:rPr>
              <a:t>Config.json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עבור כל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)</a:t>
            </a:r>
          </a:p>
          <a:p>
            <a:pPr lvl="1" algn="r" rtl="1">
              <a:lnSpc>
                <a:spcPct val="150000"/>
              </a:lnSpc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סט משתמשים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weak_*, medium_*, strong_*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- כאשר דרגת הסיסמאות נבחרה על ידי הקטלוג הבא: </a:t>
            </a:r>
          </a:p>
          <a:p>
            <a:pPr marL="0" lvl="1" indent="0" algn="r" rtl="1">
              <a:lnSpc>
                <a:spcPct val="150000"/>
              </a:lnSpc>
              <a:buNone/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	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weak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– סיסמאות הבנויות ממספרים או אותיות קטנות בלבד</a:t>
            </a:r>
          </a:p>
          <a:p>
            <a:pPr marL="0" lvl="1" indent="0" algn="r" rtl="1">
              <a:lnSpc>
                <a:spcPct val="150000"/>
              </a:lnSpc>
              <a:buNone/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	medium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– סיסמאות הבנויות עם אותיות גדולות ומספרים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marL="0" lvl="1" indent="0" algn="r" rtl="1">
              <a:lnSpc>
                <a:spcPct val="150000"/>
              </a:lnSpc>
              <a:buNone/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	strong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– סיסמאות הבנויות מאותיות גדולות, מספרים ותווים מיוחדים.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lvl="1" algn="r" rtl="1">
              <a:lnSpc>
                <a:spcPct val="150000"/>
              </a:lnSpc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סוגי התקיפות שביצענו –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Brute Force &amp; Password Spraying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1"/>
            <a:fld id="{58FB4751-880F-D840-AAA9-3A15815CC996}" type="slidenum">
              <a:rPr lang="en-US" smtClean="0">
                <a:latin typeface="Levenim MT" panose="02010502060101010101" pitchFamily="2" charset="-79"/>
                <a:cs typeface="Levenim MT" panose="02010502060101010101" pitchFamily="2" charset="-79"/>
              </a:rPr>
              <a:pPr rtl="1"/>
              <a:t>5</a:t>
            </a:fld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7689-0811-5F71-3925-19B86CC2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CA3CED6-0E68-6581-54B4-95471D8B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תצורת ניסוי (מה בנינו ומה מדדנו)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ontent Placeholder 24">
                <a:extLst>
                  <a:ext uri="{FF2B5EF4-FFF2-40B4-BE49-F238E27FC236}">
                    <a16:creationId xmlns:a16="http://schemas.microsoft.com/office/drawing/2014/main" id="{3C98B0BF-89BF-0938-B564-618F8F065E82}"/>
                  </a:ext>
                </a:extLst>
              </p:cNvPr>
              <p:cNvSpPr>
                <a:spLocks noGrp="1"/>
              </p:cNvSpPr>
              <p:nvPr>
                <p:ph sz="quarter" idx="12"/>
              </p:nvPr>
            </p:nvSpPr>
            <p:spPr>
              <a:xfrm>
                <a:off x="328474" y="2039112"/>
                <a:ext cx="10952937" cy="3904488"/>
              </a:xfrm>
            </p:spPr>
            <p:txBody>
              <a:bodyPr>
                <a:normAutofit fontScale="62500" lnSpcReduction="20000"/>
              </a:bodyPr>
              <a:lstStyle/>
              <a:p>
                <a:pPr lvl="1" algn="r" rtl="1">
                  <a:lnSpc>
                    <a:spcPct val="150000"/>
                  </a:lnSpc>
                </a:pPr>
                <a:r>
                  <a:rPr lang="he-IL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הגנות (כפי שהוגדרו בזמן ריצה):</a:t>
                </a:r>
              </a:p>
              <a:p>
                <a:pPr marL="457200" lvl="1" indent="-457200" algn="l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Rate Limiting: MaxAttemptsPerUser = 5, RateLimitWindowSeconds = 60</a:t>
                </a:r>
              </a:p>
              <a:p>
                <a:pPr marL="457200" lvl="1" indent="-457200" algn="l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Lockout: </a:t>
                </a:r>
                <a:r>
                  <a:rPr lang="en-US" dirty="0" err="1">
                    <a:latin typeface="Levenim MT" panose="02010502060101010101" pitchFamily="2" charset="-79"/>
                    <a:cs typeface="Levenim MT" panose="02010502060101010101" pitchFamily="2" charset="-79"/>
                  </a:rPr>
                  <a:t>LockoutThreshold</a:t>
                </a: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 = 10 (After 10 failed attempts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Levenim MT" panose="02010502060101010101" pitchFamily="2" charset="-79"/>
                      </a:rPr>
                      <m:t>→ </m:t>
                    </m:r>
                  </m:oMath>
                </a14:m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User is locked out)</a:t>
                </a:r>
              </a:p>
              <a:p>
                <a:pPr marL="457200" lvl="1" indent="-457200" algn="l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CAPTCHA: </a:t>
                </a:r>
                <a:r>
                  <a:rPr lang="en-US" dirty="0" err="1">
                    <a:latin typeface="Levenim MT" panose="02010502060101010101" pitchFamily="2" charset="-79"/>
                    <a:cs typeface="Levenim MT" panose="02010502060101010101" pitchFamily="2" charset="-79"/>
                  </a:rPr>
                  <a:t>CaptchaAfterFailedAttempts</a:t>
                </a: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 = 3</a:t>
                </a:r>
              </a:p>
              <a:p>
                <a:pPr marL="457200" lvl="1" indent="-457200" algn="l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Pepper: On/Off</a:t>
                </a:r>
                <a:endParaRPr lang="he-IL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  <a:p>
                <a:pPr lvl="1" algn="r" rtl="1">
                  <a:lnSpc>
                    <a:spcPct val="150000"/>
                  </a:lnSpc>
                </a:pPr>
                <a:r>
                  <a:rPr lang="he-IL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מדדים מתוך הלוגים:</a:t>
                </a:r>
              </a:p>
              <a:p>
                <a:pPr marL="457200" lvl="1" indent="-457200" algn="l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Attempts/Sec </a:t>
                </a:r>
                <a:r>
                  <a:rPr lang="he-IL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(קצב ניסיונות)</a:t>
                </a:r>
              </a:p>
              <a:p>
                <a:pPr marL="457200" lvl="1" indent="-457200" algn="l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Time To First Success </a:t>
                </a:r>
                <a:endParaRPr lang="he-IL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  <a:p>
                <a:pPr marL="457200" lvl="1" indent="-457200" algn="l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Average / Median Latency </a:t>
                </a:r>
                <a:r>
                  <a:rPr lang="en-US" dirty="0" err="1">
                    <a:latin typeface="Levenim MT" panose="02010502060101010101" pitchFamily="2" charset="-79"/>
                    <a:cs typeface="Levenim MT" panose="02010502060101010101" pitchFamily="2" charset="-79"/>
                  </a:rPr>
                  <a:t>ms</a:t>
                </a:r>
                <a:endParaRPr lang="en-US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  <a:p>
                <a:pPr marL="457200" lvl="1" indent="-457200" algn="l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Levenim MT" panose="02010502060101010101" pitchFamily="2" charset="-79"/>
                    <a:cs typeface="Levenim MT" panose="02010502060101010101" pitchFamily="2" charset="-79"/>
                  </a:rPr>
                  <a:t>Success Rate</a:t>
                </a:r>
                <a:endParaRPr lang="he-IL" dirty="0">
                  <a:latin typeface="Levenim MT" panose="02010502060101010101" pitchFamily="2" charset="-79"/>
                  <a:cs typeface="Levenim MT" panose="02010502060101010101" pitchFamily="2" charset="-79"/>
                </a:endParaRPr>
              </a:p>
            </p:txBody>
          </p:sp>
        </mc:Choice>
        <mc:Fallback>
          <p:sp>
            <p:nvSpPr>
              <p:cNvPr id="25" name="Content Placeholder 24">
                <a:extLst>
                  <a:ext uri="{FF2B5EF4-FFF2-40B4-BE49-F238E27FC236}">
                    <a16:creationId xmlns:a16="http://schemas.microsoft.com/office/drawing/2014/main" id="{3C98B0BF-89BF-0938-B564-618F8F065E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xfrm>
                <a:off x="328474" y="2039112"/>
                <a:ext cx="10952937" cy="3904488"/>
              </a:xfrm>
              <a:blipFill>
                <a:blip r:embed="rId3"/>
                <a:stretch>
                  <a:fillRect l="-167" r="-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C5192-DB86-0106-5EC1-E6B6B7804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1"/>
            <a:fld id="{58FB4751-880F-D840-AAA9-3A15815CC996}" type="slidenum">
              <a:rPr lang="en-US" smtClean="0">
                <a:latin typeface="Levenim MT" panose="02010502060101010101" pitchFamily="2" charset="-79"/>
                <a:cs typeface="Levenim MT" panose="02010502060101010101" pitchFamily="2" charset="-79"/>
              </a:rPr>
              <a:pPr rtl="1"/>
              <a:t>6</a:t>
            </a:fld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82894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ניסויי דגל –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Flag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8" y="2039111"/>
            <a:ext cx="8913183" cy="390448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Test01 / 03 / 05 (Brute-Force): SHA256 / Bcrypt / Argon2ID - Defenseless.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Test02 / 04 / 06 (Brute-Force): SHA256 / Bcrypt / Argon2ID + Pepper.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Test10 (Brute-Force): SHA256 + Rate Limiting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Test13 (Brute-Force): SHA256 + Lockout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Test15 (Brute-Force): SHA256 + CAPTCHA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Test20 (Spray): Argon2ID + Pepper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Test23 (Spray): Argon2ID + Pepper + Rate Limiting + CAPTCHA + Lockout </a:t>
            </a: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ממצאים מרכזיים – השפעת אלגוריתם הגיבוב (ללא הגנות)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3F53A55-1F2B-EB7F-3E43-C43170D7798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15733711"/>
              </p:ext>
            </p:extLst>
          </p:nvPr>
        </p:nvGraphicFramePr>
        <p:xfrm>
          <a:off x="1038687" y="2038350"/>
          <a:ext cx="10238915" cy="247230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586579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774586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302280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575470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ATTEMTPS /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TTFS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MEDIAN LATENCY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 01 (SHA256)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36.2~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0.6s~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10.8ms~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 03 (Bcrypt)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0.68~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30.8s~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1445ms~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 05 (Argon2ID)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1.66~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12.5~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554ms~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1"/>
            <a:fld id="{58FB4751-880F-D840-AAA9-3A15815CC996}" type="slidenum">
              <a:rPr lang="en-US" smtClean="0">
                <a:latin typeface="Levenim MT" panose="02010502060101010101" pitchFamily="2" charset="-79"/>
                <a:cs typeface="Levenim MT" panose="02010502060101010101" pitchFamily="2" charset="-79"/>
              </a:rPr>
              <a:pPr rtl="1"/>
              <a:t>8</a:t>
            </a:fld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4D3822-45C5-75E5-B8C9-5F7F466ED0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1437" y="4720204"/>
            <a:ext cx="10653116" cy="1538553"/>
          </a:xfrm>
        </p:spPr>
        <p:txBody>
          <a:bodyPr>
            <a:normAutofit fontScale="70000" lnSpcReduction="20000"/>
          </a:bodyPr>
          <a:lstStyle/>
          <a:p>
            <a:pPr algn="r" rtl="1"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SHA256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מהיר בערך פי 53~ מ-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Bcrypt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, ופי 22~ מ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Argon2ID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בקצב ניסיונות לשנייה.</a:t>
            </a:r>
          </a:p>
          <a:p>
            <a:pPr algn="r" rtl="1"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Latency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גבוהה משמעותית ב-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Argon2ID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ו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Bcrypt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ביחס ל-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SHA256</a:t>
            </a:r>
          </a:p>
          <a:p>
            <a:pPr algn="r" rtl="1">
              <a:lnSpc>
                <a:spcPct val="150000"/>
              </a:lnSpc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המשמעות היא שאלגוריתם יקר יותר "מחליף" ביצועים בבטיחות, אבל המחיר מורגש מאוד בחווית המשתמש (יזכה ל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latency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גבוהה משמעותית)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E0A2-1996-727B-A016-DB50BD8C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D3FF33F-E97C-89E7-C657-D134AAA8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ממצאים מרכזיים – השפעת הגנות (בדגש על </a:t>
            </a:r>
            <a:r>
              <a:rPr lang="en-US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SHA256</a:t>
            </a:r>
            <a:r>
              <a:rPr lang="he-IL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 עבור בידוד ההגנות)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5FB8A626-35AE-27ED-453B-06D538C15E5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049279267"/>
              </p:ext>
            </p:extLst>
          </p:nvPr>
        </p:nvGraphicFramePr>
        <p:xfrm>
          <a:off x="1038688" y="2038350"/>
          <a:ext cx="10238914" cy="247230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586578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774587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302279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575470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DEFENSE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ATTEMTPS /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TTFS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SUCCESS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Test01 VS Test10 (Rate-Limiting)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0.10~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242.5s~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Test13 (Lockout)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96 Total Attempts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endParaRPr lang="en-US" sz="20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20% ~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Test01 VS Test 15 (CAPTCHA)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16.2~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1.2s~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endParaRPr lang="en-US" sz="20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3927C-3760-706D-5450-B451AB677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1"/>
            <a:fld id="{58FB4751-880F-D840-AAA9-3A15815CC996}" type="slidenum">
              <a:rPr lang="en-US" smtClean="0">
                <a:latin typeface="Levenim MT" panose="02010502060101010101" pitchFamily="2" charset="-79"/>
                <a:cs typeface="Levenim MT" panose="02010502060101010101" pitchFamily="2" charset="-79"/>
              </a:rPr>
              <a:pPr rtl="1"/>
              <a:t>9</a:t>
            </a:fld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1A3A06-CA53-ABD4-9C79-06B09B5D668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1437" y="4720204"/>
            <a:ext cx="10653116" cy="1538553"/>
          </a:xfrm>
        </p:spPr>
        <p:txBody>
          <a:bodyPr>
            <a:normAutofit fontScale="62500" lnSpcReduction="20000"/>
          </a:bodyPr>
          <a:lstStyle/>
          <a:p>
            <a:pPr algn="r" rtl="1"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Rate-Limiting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הוריד בסדר גודל של כ-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350x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את מספר הניסיונות/שנייה, ובמקביל העלה את משך הזמן עד הצלחה ראשונה מ-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0.6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שניות לכ-4 דקות.</a:t>
            </a:r>
          </a:p>
          <a:p>
            <a:pPr algn="r" rtl="1"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Lockout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מנע </a:t>
            </a:r>
            <a:r>
              <a:rPr lang="he-IL" u="sng" dirty="0">
                <a:latin typeface="Levenim MT" panose="02010502060101010101" pitchFamily="2" charset="-79"/>
                <a:cs typeface="Levenim MT" panose="02010502060101010101" pitchFamily="2" charset="-79"/>
              </a:rPr>
              <a:t>המון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ניסיונות. כמו כן, אחוזי ההצלחה ירדו משמעותית לכ-20%, מכיוון שהמתקפה "נעצרה" מהר מאוד (בעקבות החסימות).</a:t>
            </a:r>
          </a:p>
          <a:p>
            <a:pPr algn="r" rtl="1">
              <a:lnSpc>
                <a:spcPct val="150000"/>
              </a:lnSpc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CAPTCHA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הצליח להוריד את קצב הניסיונות/שנייה מכ-36.2~ ל16.2~ לשנייה (פי 2.2~ איטי יותר), ובמקביל משך הזמן עד הצלחה ראשונה עלה פי מכ-0.6~ ל1.2~ שניות (פי 1.9 לערך)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34111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E13F-9A42-2BF7-D21B-CD20067E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358F4A18-ACA2-9568-5DB9-31BBF3BA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ממצאים מרכזיים – </a:t>
            </a:r>
            <a:r>
              <a:rPr lang="en-US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Password Spraying (Mixed Users)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2AD9ACE-356E-DCF3-2527-BA450D13335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31586517"/>
              </p:ext>
            </p:extLst>
          </p:nvPr>
        </p:nvGraphicFramePr>
        <p:xfrm>
          <a:off x="1038688" y="2038350"/>
          <a:ext cx="10238914" cy="1854228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586578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2774587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302279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2575470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</a:tblGrid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ATTEMTPS /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TTFS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AVERAGE LATENCY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Test23 (Argon2ID + Pepper)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3.22~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28.4s~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2144ms~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61807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Test20 (Argon2ID + Full Defense)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287 Total Attempts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8.1s~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000" b="0" dirty="0"/>
                        <a:t>933ms~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EC834-8593-161F-7194-FF47964B9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1"/>
            <a:fld id="{58FB4751-880F-D840-AAA9-3A15815CC996}" type="slidenum">
              <a:rPr lang="en-US" smtClean="0">
                <a:latin typeface="Levenim MT" panose="02010502060101010101" pitchFamily="2" charset="-79"/>
                <a:cs typeface="Levenim MT" panose="02010502060101010101" pitchFamily="2" charset="-79"/>
              </a:rPr>
              <a:pPr rtl="1"/>
              <a:t>10</a:t>
            </a:fld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F848D3-C92C-0C44-017B-9AEEDE62613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1436" y="4102128"/>
            <a:ext cx="10653116" cy="1538553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he-IL" sz="1300" dirty="0">
                <a:latin typeface="Levenim MT" panose="02010502060101010101" pitchFamily="2" charset="-79"/>
                <a:cs typeface="Levenim MT" panose="02010502060101010101" pitchFamily="2" charset="-79"/>
              </a:rPr>
              <a:t>הערה חשובה לפרשנות הטבלה! </a:t>
            </a:r>
            <a:r>
              <a:rPr lang="en-US" sz="1300" dirty="0">
                <a:latin typeface="Levenim MT" panose="02010502060101010101" pitchFamily="2" charset="-79"/>
                <a:cs typeface="Levenim MT" panose="02010502060101010101" pitchFamily="2" charset="-79"/>
              </a:rPr>
              <a:t>TTFS</a:t>
            </a:r>
            <a:r>
              <a:rPr lang="he-IL" sz="1300" dirty="0">
                <a:latin typeface="Levenim MT" panose="02010502060101010101" pitchFamily="2" charset="-79"/>
                <a:cs typeface="Levenim MT" panose="02010502060101010101" pitchFamily="2" charset="-79"/>
              </a:rPr>
              <a:t> ב-</a:t>
            </a:r>
            <a:r>
              <a:rPr lang="en-US" sz="1300" dirty="0">
                <a:latin typeface="Levenim MT" panose="02010502060101010101" pitchFamily="2" charset="-79"/>
                <a:cs typeface="Levenim MT" panose="02010502060101010101" pitchFamily="2" charset="-79"/>
              </a:rPr>
              <a:t>Spray</a:t>
            </a:r>
            <a:r>
              <a:rPr lang="he-IL" sz="1300" dirty="0">
                <a:latin typeface="Levenim MT" panose="02010502060101010101" pitchFamily="2" charset="-79"/>
                <a:cs typeface="Levenim MT" panose="02010502060101010101" pitchFamily="2" charset="-79"/>
              </a:rPr>
              <a:t> תלוי מאוד בסדר המשתמשים / הסיסמאות (כלומר הצלחה "מוקדמת" לא תמיד אומרת שההגנה חלשה יותר</a:t>
            </a:r>
            <a:r>
              <a:rPr lang="en-US" sz="1300" dirty="0">
                <a:latin typeface="Levenim MT" panose="02010502060101010101" pitchFamily="2" charset="-79"/>
                <a:cs typeface="Levenim MT" panose="02010502060101010101" pitchFamily="2" charset="-79"/>
              </a:rPr>
              <a:t>;</a:t>
            </a:r>
            <a:r>
              <a:rPr lang="he-IL" sz="1300" dirty="0">
                <a:latin typeface="Levenim MT" panose="02010502060101010101" pitchFamily="2" charset="-79"/>
                <a:cs typeface="Levenim MT" panose="02010502060101010101" pitchFamily="2" charset="-79"/>
              </a:rPr>
              <a:t> היא יכולה לשקף שהסיסמה הנכונה הופיעה מוקדם יותר בזרימה)</a:t>
            </a:r>
            <a:endParaRPr lang="en-US" sz="1300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59154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מסקנות והמלצות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A9EE9E-3073-7E11-3AA5-F77C3B48A9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0" y="2039111"/>
            <a:ext cx="10362896" cy="3840480"/>
          </a:xfrm>
        </p:spPr>
        <p:txBody>
          <a:bodyPr>
            <a:normAutofit fontScale="92500" lnSpcReduction="10000"/>
          </a:bodyPr>
          <a:lstStyle/>
          <a:p>
            <a:pPr marL="342900" indent="-34290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הבחירה ב-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Hash Algorithm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היא גורם דומיננטי ב-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latency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ובקצב התקיפה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;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SHA256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לבד נותן ביצועים אבל מאפשר קצב ניסיונות גבוה מאוד.</a:t>
            </a:r>
          </a:p>
          <a:p>
            <a:pPr marL="342900" indent="-34290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ההגנה הכי "משנה משחק" בניסוי שלנו: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Rate-Limiting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(מורידה קצב בכמות משמעותית) +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Lockout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(מוריד סך ניסיונות ומקטין שיעור הצלחה).</a:t>
            </a:r>
          </a:p>
          <a:p>
            <a:pPr marL="342900" indent="-34290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CAPTCHA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מוסיף חיכוך, אבל לא חוסם לבדו – בעיקר מאט. </a:t>
            </a:r>
            <a:r>
              <a:rPr lang="he-IL" u="sng" dirty="0">
                <a:latin typeface="Levenim MT" panose="02010502060101010101" pitchFamily="2" charset="-79"/>
                <a:cs typeface="Levenim MT" panose="02010502060101010101" pitchFamily="2" charset="-79"/>
              </a:rPr>
              <a:t>חשוב לציין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כי 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TOTP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לאו דווקא נמדד ב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Test Plan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שלנו, מכיוון שפריצה ל-</a:t>
            </a: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TOTP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כמעט ואינה אפשרית.</a:t>
            </a:r>
          </a:p>
          <a:p>
            <a:pPr marL="342900" indent="-342900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Levenim MT" panose="02010502060101010101" pitchFamily="2" charset="-79"/>
                <a:cs typeface="Levenim MT" panose="02010502060101010101" pitchFamily="2" charset="-79"/>
              </a:rPr>
              <a:t>Full-Stack (Pepper + Rate Limit + Lockout + CAPTCHA)</a:t>
            </a:r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 נותן את התוצאה ההגנתית החזקה ביותר בפועל (מעט ניסיונות, קצב נמוך, פחות הצלחות).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1"/>
            <a:fld id="{58FB4751-880F-D840-AAA9-3A15815CC996}" type="slidenum">
              <a:rPr lang="en-US" smtClean="0">
                <a:latin typeface="Levenim MT" panose="02010502060101010101" pitchFamily="2" charset="-79"/>
                <a:cs typeface="Levenim MT" panose="02010502060101010101" pitchFamily="2" charset="-79"/>
              </a:rPr>
              <a:pPr rtl="1"/>
              <a:t>11</a:t>
            </a:fld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תודה רבה</a:t>
            </a:r>
            <a:endParaRPr lang="en-US" dirty="0"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pPr algn="r" rtl="1"/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תומר טולדו - 209706795</a:t>
            </a:r>
          </a:p>
          <a:p>
            <a:pPr algn="r" rtl="1"/>
            <a:r>
              <a:rPr lang="he-IL" dirty="0">
                <a:latin typeface="Levenim MT" panose="02010502060101010101" pitchFamily="2" charset="-79"/>
                <a:cs typeface="Levenim MT" panose="02010502060101010101" pitchFamily="2" charset="-79"/>
              </a:rPr>
              <a:t>אביאל כהן - 205735806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{0D651551-54CC-4E5D-BD48-2439C0254FDE}TF1ed9553b-00c4-4092-846a-c8f7f2908f3beecd942f_win32-8e33096c3cfc</Template>
  <TotalTime>99</TotalTime>
  <Words>884</Words>
  <Application>Microsoft Office PowerPoint</Application>
  <PresentationFormat>Widescreen</PresentationFormat>
  <Paragraphs>125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Courier New</vt:lpstr>
      <vt:lpstr>Gill Sans Nova Light</vt:lpstr>
      <vt:lpstr>Levenim MT</vt:lpstr>
      <vt:lpstr>Sagona Book</vt:lpstr>
      <vt:lpstr>Custom</vt:lpstr>
      <vt:lpstr>ממ"ן 06  מבוא לאבטחת המרחב המקוון סמסטר 2026א תומר טולדו ואביאל כהן  </vt:lpstr>
      <vt:lpstr>agenda</vt:lpstr>
      <vt:lpstr>היקף הפרויקט </vt:lpstr>
      <vt:lpstr>מטרות</vt:lpstr>
      <vt:lpstr>תצורת ניסוי (מה בנינו ומה מדדנו)</vt:lpstr>
      <vt:lpstr>תצורת ניסוי (מה בנינו ומה מדדנו)</vt:lpstr>
      <vt:lpstr>ניסויי דגל – Flag Tests</vt:lpstr>
      <vt:lpstr>ממצאים מרכזיים – השפעת אלגוריתם הגיבוב (ללא הגנות)</vt:lpstr>
      <vt:lpstr>ממצאים מרכזיים – השפעת הגנות (בדגש על SHA256 עבור בידוד ההגנות)</vt:lpstr>
      <vt:lpstr>ממצאים מרכזיים – Password Spraying (Mixed Users)</vt:lpstr>
      <vt:lpstr>מסקנות והמלצות</vt:lpstr>
      <vt:lpstr>תודה רבה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Tommer Toledo</dc:creator>
  <cp:lastModifiedBy>Tommer Toledo</cp:lastModifiedBy>
  <cp:revision>16</cp:revision>
  <dcterms:created xsi:type="dcterms:W3CDTF">2026-01-01T21:03:57Z</dcterms:created>
  <dcterms:modified xsi:type="dcterms:W3CDTF">2026-01-01T22:43:38Z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